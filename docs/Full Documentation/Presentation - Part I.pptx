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11" r:id="rId3"/>
    <p:sldId id="258" r:id="rId4"/>
    <p:sldId id="437" r:id="rId5"/>
    <p:sldId id="262" r:id="rId6"/>
    <p:sldId id="384" r:id="rId7"/>
    <p:sldId id="385" r:id="rId8"/>
    <p:sldId id="386" r:id="rId9"/>
    <p:sldId id="260" r:id="rId10"/>
    <p:sldId id="389" r:id="rId11"/>
    <p:sldId id="388" r:id="rId12"/>
    <p:sldId id="387" r:id="rId13"/>
    <p:sldId id="436" r:id="rId14"/>
    <p:sldId id="266" r:id="rId15"/>
    <p:sldId id="352" r:id="rId16"/>
    <p:sldId id="353" r:id="rId17"/>
    <p:sldId id="355" r:id="rId18"/>
    <p:sldId id="356" r:id="rId19"/>
    <p:sldId id="435" r:id="rId20"/>
    <p:sldId id="350" r:id="rId21"/>
    <p:sldId id="349" r:id="rId22"/>
    <p:sldId id="264" r:id="rId23"/>
    <p:sldId id="438" r:id="rId24"/>
    <p:sldId id="351" r:id="rId25"/>
    <p:sldId id="443" r:id="rId26"/>
    <p:sldId id="440" r:id="rId27"/>
    <p:sldId id="441" r:id="rId28"/>
    <p:sldId id="442" r:id="rId29"/>
    <p:sldId id="439" r:id="rId30"/>
    <p:sldId id="390" r:id="rId31"/>
    <p:sldId id="392" r:id="rId3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4"/>
      <p:bold r:id="rId35"/>
    </p:embeddedFont>
    <p:embeddedFont>
      <p:font typeface="Alexandria Medium" panose="020B0604020202020204" charset="-78"/>
      <p:regular r:id="rId36"/>
    </p:embeddedFont>
    <p:embeddedFont>
      <p:font typeface="Albert Sans" panose="020B0604020202020204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EB05199-A5BB-4992-93B1-D482D04F36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F247EA90-F141-4834-8B37-1959FDFC2AF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9272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364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572bee519d_0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572bee519d_0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861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997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4913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4605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222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90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68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80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83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6774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7059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749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536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045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123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918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2106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1544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676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298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017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6717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00496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28827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84369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738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7753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572bee519d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572bee519d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560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572bee519d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572bee519d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6369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594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/>
          <a:srcRect l="-55210" t="50562" r="55209" b="-6811"/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/>
          <a:srcRect l="-19689" t="41478" r="19690" b="227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/>
          <a:srcRect l="-55210" t="50562" r="55209" b="-6811"/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/>
          <a:srcRect l="36283" t="30" r="-6" b="-40"/>
          <a:stretch>
            <a:fillRect/>
          </a:stretch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/>
          <a:srcRect l="-55210" t="50562" r="55209" b="-6811"/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 rotWithShape="1">
          <a:blip r:embed="rId2"/>
          <a:srcRect l="-55210" t="50562" r="55209" b="-6811"/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1"/>
          <p:cNvPicPr preferRelativeResize="0"/>
          <p:nvPr/>
        </p:nvPicPr>
        <p:blipFill rotWithShape="1">
          <a:blip r:embed="rId2"/>
          <a:srcRect l="-55210" t="50562" r="55209" b="-6811"/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/>
          <a:srcRect l="-235242" t="44962" r="44460" b="-108521"/>
          <a:stretch>
            <a:fillRect/>
          </a:stretch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/>
          <a:srcRect l="-50000" t="49600" r="50000" b="-584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/>
          <a:srcRect l="-235242" t="44962" r="44460" b="-108521"/>
          <a:stretch>
            <a:fillRect/>
          </a:stretch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/>
          <a:srcRect l="-235242" t="44962" r="44460" b="-108521"/>
          <a:stretch>
            <a:fillRect/>
          </a:stretch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2"/>
          <a:srcRect l="-50000" t="49600" r="50000" b="-584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2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3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4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5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6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/>
          <a:srcRect l="-6643" t="13471" r="27548" b="-35825"/>
          <a:stretch>
            <a:fillRect/>
          </a:stretch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/>
          <a:srcRect l="-235242" t="44962" r="44460" b="-108521"/>
          <a:stretch>
            <a:fillRect/>
          </a:stretch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/>
          <a:srcRect l="-55210" t="50562" r="55209" b="-68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/>
          <a:srcRect l="-55210" t="50562" r="55209" b="-6811"/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8" r:id="rId4"/>
    <p:sldLayoutId id="2147483659" r:id="rId5"/>
    <p:sldLayoutId id="2147483660" r:id="rId6"/>
    <p:sldLayoutId id="2147483666" r:id="rId7"/>
    <p:sldLayoutId id="2147483667" r:id="rId8"/>
    <p:sldLayoutId id="2147483668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rbnb.com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qaryamasr.com/" TargetMode="External"/><Relationship Id="rId4" Type="http://schemas.openxmlformats.org/officeDocument/2006/relationships/hyperlink" Target="https://www.bayut.com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1835" y="1958340"/>
            <a:ext cx="5382260" cy="1569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dirty="0" err="1"/>
              <a:t>Semsary</a:t>
            </a:r>
            <a:endParaRPr lang="en-US" altLang="en-GB"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5004435" y="483565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 smtClean="0">
                <a:latin typeface="+mj-lt"/>
              </a:rPr>
              <a:t>Graduation </a:t>
            </a:r>
            <a:r>
              <a:rPr lang="en-US" altLang="en-US" b="1" dirty="0">
                <a:latin typeface="+mj-lt"/>
              </a:rPr>
              <a:t>Project</a:t>
            </a:r>
            <a:r>
              <a:rPr lang="en-US" altLang="en-US" dirty="0">
                <a:latin typeface="+mj-lt"/>
              </a:rPr>
              <a:t> - Part I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dirty="0">
              <a:latin typeface="+mj-lt"/>
            </a:endParaRPr>
          </a:p>
        </p:txBody>
      </p:sp>
      <p:cxnSp>
        <p:nvCxnSpPr>
          <p:cNvPr id="192" name="Google Shape;192;p35">
            <a:hlinkClick r:id="" action="ppaction://hlinkshowjump?jump=nextslide"/>
          </p:cNvPr>
          <p:cNvCxnSpPr/>
          <p:nvPr/>
        </p:nvCxnSpPr>
        <p:spPr>
          <a:xfrm>
            <a:off x="715100" y="657345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191;p35"/>
          <p:cNvSpPr txBox="1"/>
          <p:nvPr/>
        </p:nvSpPr>
        <p:spPr>
          <a:xfrm>
            <a:off x="755650" y="3292475"/>
            <a:ext cx="4785360" cy="6699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dirty="0">
                <a:latin typeface="+mj-lt"/>
              </a:rPr>
              <a:t>The Management Intelligent System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dirty="0">
                <a:latin typeface="+mj-lt"/>
              </a:rPr>
              <a:t>For Managing Individuals' Residence in Cities</a:t>
            </a:r>
          </a:p>
        </p:txBody>
      </p:sp>
      <p:pic>
        <p:nvPicPr>
          <p:cNvPr id="4" name="Picture 4" descr="C:\Users\Badawy\Desktop\Ar.pngAr"/>
          <p:cNvPicPr>
            <a:picLocks noChangeAspect="1"/>
          </p:cNvPicPr>
          <p:nvPr/>
        </p:nvPicPr>
        <p:blipFill>
          <a:blip r:embed="rId3"/>
          <a:srcRect l="66" r="66"/>
          <a:stretch>
            <a:fillRect/>
          </a:stretch>
        </p:blipFill>
        <p:spPr>
          <a:xfrm>
            <a:off x="6835140" y="3105785"/>
            <a:ext cx="1886585" cy="1888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8"/>
          <p:cNvSpPr txBox="1">
            <a:spLocks noGrp="1"/>
          </p:cNvSpPr>
          <p:nvPr>
            <p:ph type="title"/>
          </p:nvPr>
        </p:nvSpPr>
        <p:spPr>
          <a:xfrm>
            <a:off x="395695" y="33942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team</a:t>
            </a:r>
          </a:p>
        </p:txBody>
      </p:sp>
      <p:sp>
        <p:nvSpPr>
          <p:cNvPr id="631" name="Google Shape;631;p68"/>
          <p:cNvSpPr txBox="1">
            <a:spLocks noGrp="1"/>
          </p:cNvSpPr>
          <p:nvPr>
            <p:ph type="subTitle" idx="4"/>
          </p:nvPr>
        </p:nvSpPr>
        <p:spPr>
          <a:xfrm>
            <a:off x="374015" y="2271395"/>
            <a:ext cx="333375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Mahmoud</a:t>
            </a:r>
            <a:r>
              <a:rPr lang="en-US" altLang="en-US">
                <a:latin typeface="Albert Sans" charset="0"/>
                <a:cs typeface="Albert Sans" charset="0"/>
              </a:rPr>
              <a:t> Ahmed Khalil</a:t>
            </a:r>
          </a:p>
        </p:txBody>
      </p:sp>
      <p:sp>
        <p:nvSpPr>
          <p:cNvPr id="13" name="Google Shape;631;p68"/>
          <p:cNvSpPr txBox="1"/>
          <p:nvPr/>
        </p:nvSpPr>
        <p:spPr>
          <a:xfrm>
            <a:off x="374015" y="1346835"/>
            <a:ext cx="333375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/>
              <a:t>Mohamed</a:t>
            </a:r>
            <a:r>
              <a:rPr lang="en-US" altLang="en-US" dirty="0">
                <a:latin typeface="Albert Sans" charset="0"/>
                <a:cs typeface="Albert Sans" charset="0"/>
              </a:rPr>
              <a:t> </a:t>
            </a:r>
            <a:r>
              <a:rPr lang="en-US" altLang="en-US" dirty="0" err="1">
                <a:latin typeface="Albert Sans" charset="0"/>
                <a:cs typeface="Albert Sans" charset="0"/>
              </a:rPr>
              <a:t>Badawy</a:t>
            </a:r>
            <a:r>
              <a:rPr lang="en-US" altLang="en-US" dirty="0">
                <a:latin typeface="Albert Sans" charset="0"/>
                <a:cs typeface="Albert Sans" charset="0"/>
              </a:rPr>
              <a:t> Sayed</a:t>
            </a:r>
          </a:p>
        </p:txBody>
      </p:sp>
      <p:sp>
        <p:nvSpPr>
          <p:cNvPr id="14" name="Google Shape;631;p68"/>
          <p:cNvSpPr txBox="1"/>
          <p:nvPr/>
        </p:nvSpPr>
        <p:spPr>
          <a:xfrm>
            <a:off x="4860290" y="1347470"/>
            <a:ext cx="3041015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Mostafa</a:t>
            </a:r>
            <a:r>
              <a:rPr lang="en-US" altLang="en-US">
                <a:latin typeface="Albert Sans" charset="0"/>
                <a:cs typeface="Albert Sans" charset="0"/>
              </a:rPr>
              <a:t> Ahmed Hasan</a:t>
            </a:r>
          </a:p>
        </p:txBody>
      </p:sp>
      <p:sp>
        <p:nvSpPr>
          <p:cNvPr id="15" name="Google Shape;631;p68"/>
          <p:cNvSpPr txBox="1"/>
          <p:nvPr/>
        </p:nvSpPr>
        <p:spPr>
          <a:xfrm>
            <a:off x="4860290" y="3209925"/>
            <a:ext cx="3592195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 err="1"/>
              <a:t>Basant</a:t>
            </a:r>
            <a:r>
              <a:rPr lang="en-US" altLang="en-US" b="1" dirty="0">
                <a:latin typeface="Albert Sans" charset="0"/>
                <a:cs typeface="Albert Sans" charset="0"/>
              </a:rPr>
              <a:t> </a:t>
            </a:r>
            <a:r>
              <a:rPr lang="en-US" altLang="en-US" b="1" dirty="0" err="1">
                <a:latin typeface="Albert Sans" charset="0"/>
                <a:cs typeface="Albert Sans" charset="0"/>
              </a:rPr>
              <a:t>Benyamen</a:t>
            </a:r>
            <a:r>
              <a:rPr lang="en-US" altLang="en-US" b="1" dirty="0">
                <a:latin typeface="Albert Sans" charset="0"/>
                <a:cs typeface="Albert Sans" charset="0"/>
              </a:rPr>
              <a:t> </a:t>
            </a:r>
            <a:r>
              <a:rPr lang="en-US" altLang="en-US" b="1" dirty="0" err="1">
                <a:latin typeface="Albert Sans" charset="0"/>
                <a:cs typeface="Albert Sans" charset="0"/>
              </a:rPr>
              <a:t>Barsoum</a:t>
            </a:r>
            <a:endParaRPr lang="en-US" altLang="en-US" b="1" dirty="0">
              <a:latin typeface="Albert Sans" charset="0"/>
              <a:cs typeface="Albert Sans" charset="0"/>
            </a:endParaRPr>
          </a:p>
        </p:txBody>
      </p:sp>
      <p:sp>
        <p:nvSpPr>
          <p:cNvPr id="16" name="Google Shape;631;p68"/>
          <p:cNvSpPr txBox="1"/>
          <p:nvPr/>
        </p:nvSpPr>
        <p:spPr>
          <a:xfrm>
            <a:off x="374015" y="3210560"/>
            <a:ext cx="3387725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Nada</a:t>
            </a:r>
            <a:r>
              <a:rPr lang="en-US" altLang="en-US">
                <a:latin typeface="Albert Sans" charset="0"/>
                <a:cs typeface="Albert Sans" charset="0"/>
              </a:rPr>
              <a:t> Maaman Abdel Karim</a:t>
            </a:r>
          </a:p>
        </p:txBody>
      </p:sp>
      <p:sp>
        <p:nvSpPr>
          <p:cNvPr id="17" name="Google Shape;631;p68"/>
          <p:cNvSpPr txBox="1"/>
          <p:nvPr/>
        </p:nvSpPr>
        <p:spPr>
          <a:xfrm>
            <a:off x="4860290" y="2271395"/>
            <a:ext cx="275082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/>
              <a:t>Ahmed</a:t>
            </a:r>
            <a:r>
              <a:rPr lang="en-US" altLang="en-US" dirty="0">
                <a:latin typeface="Albert Sans" charset="0"/>
                <a:cs typeface="Albert Sans" charset="0"/>
              </a:rPr>
              <a:t> </a:t>
            </a:r>
            <a:r>
              <a:rPr lang="en-US" altLang="en-US" dirty="0" err="1">
                <a:latin typeface="Albert Sans" charset="0"/>
                <a:cs typeface="Albert Sans" charset="0"/>
              </a:rPr>
              <a:t>Nageh</a:t>
            </a:r>
            <a:r>
              <a:rPr lang="en-US" altLang="en-US" dirty="0">
                <a:latin typeface="Albert Sans" charset="0"/>
                <a:cs typeface="Albert Sans" charset="0"/>
              </a:rPr>
              <a:t> Abbas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</a:p>
        </p:txBody>
      </p:sp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589560" y="1338809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1106857" y="1338809"/>
            <a:ext cx="1925066" cy="44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>
                <a:sym typeface="+mn-ea"/>
              </a:rPr>
              <a:t>Abstract</a:t>
            </a:r>
            <a:endParaRPr lang="en-US" altLang="en-US" b="1" dirty="0"/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589560" y="2108922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063995" y="2108922"/>
            <a:ext cx="2868041" cy="541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>
                <a:sym typeface="+mn-ea"/>
              </a:rPr>
              <a:t>problem statement</a:t>
            </a:r>
            <a:endParaRPr lang="en-US" altLang="en-US" b="1"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589560" y="2832442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106857" y="3555212"/>
            <a:ext cx="2240788" cy="4756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en-US" b="1" dirty="0"/>
              <a:t>objectives</a:t>
            </a:r>
            <a:endParaRPr lang="en-US" altLang="en-US" b="1" dirty="0">
              <a:sym typeface="+mn-ea"/>
            </a:endParaRPr>
          </a:p>
        </p:txBody>
      </p:sp>
      <p:sp>
        <p:nvSpPr>
          <p:cNvPr id="2" name="Google Shape;214;p37"/>
          <p:cNvSpPr txBox="1"/>
          <p:nvPr/>
        </p:nvSpPr>
        <p:spPr>
          <a:xfrm>
            <a:off x="5342835" y="1408698"/>
            <a:ext cx="2268220" cy="4889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/>
            <a:r>
              <a:rPr lang="en-US" altLang="en-GB" b="1" dirty="0"/>
              <a:t>System UI</a:t>
            </a:r>
            <a:endParaRPr lang="en-US" altLang="en-US" dirty="0"/>
          </a:p>
        </p:txBody>
      </p:sp>
      <p:sp>
        <p:nvSpPr>
          <p:cNvPr id="13" name="Google Shape;213;p37"/>
          <p:cNvSpPr txBox="1"/>
          <p:nvPr/>
        </p:nvSpPr>
        <p:spPr>
          <a:xfrm>
            <a:off x="4840842" y="1408698"/>
            <a:ext cx="538480" cy="4425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06</a:t>
            </a:r>
            <a:endParaRPr lang="en-GB" dirty="0"/>
          </a:p>
        </p:txBody>
      </p:sp>
      <p:sp>
        <p:nvSpPr>
          <p:cNvPr id="3" name="Google Shape;213;p37"/>
          <p:cNvSpPr txBox="1"/>
          <p:nvPr/>
        </p:nvSpPr>
        <p:spPr>
          <a:xfrm>
            <a:off x="4840842" y="2161147"/>
            <a:ext cx="538480" cy="4425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07</a:t>
            </a:r>
            <a:endParaRPr lang="en-GB" dirty="0"/>
          </a:p>
        </p:txBody>
      </p:sp>
      <p:sp>
        <p:nvSpPr>
          <p:cNvPr id="4" name="Google Shape;214;p37"/>
          <p:cNvSpPr txBox="1"/>
          <p:nvPr/>
        </p:nvSpPr>
        <p:spPr>
          <a:xfrm>
            <a:off x="5379322" y="2161147"/>
            <a:ext cx="2268220" cy="4889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/>
            <a:r>
              <a:rPr lang="en-US" altLang="en-US" b="1" dirty="0">
                <a:sym typeface="+mn-ea"/>
              </a:rPr>
              <a:t>Use Case Diagram</a:t>
            </a:r>
            <a:endParaRPr lang="en-US" altLang="en-US" dirty="0"/>
          </a:p>
        </p:txBody>
      </p:sp>
      <p:sp>
        <p:nvSpPr>
          <p:cNvPr id="5" name="Google Shape;213;p37"/>
          <p:cNvSpPr txBox="1"/>
          <p:nvPr/>
        </p:nvSpPr>
        <p:spPr>
          <a:xfrm>
            <a:off x="4840842" y="2805300"/>
            <a:ext cx="538480" cy="4023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08</a:t>
            </a:r>
            <a:endParaRPr lang="en-GB" dirty="0"/>
          </a:p>
        </p:txBody>
      </p:sp>
      <p:sp>
        <p:nvSpPr>
          <p:cNvPr id="6" name="Google Shape;214;p37"/>
          <p:cNvSpPr txBox="1"/>
          <p:nvPr/>
        </p:nvSpPr>
        <p:spPr>
          <a:xfrm>
            <a:off x="5379322" y="2805300"/>
            <a:ext cx="2745630" cy="444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/>
            <a:r>
              <a:rPr lang="en-US" altLang="en-US" b="1" dirty="0"/>
              <a:t>System Architecture</a:t>
            </a:r>
            <a:endParaRPr lang="en-US" altLang="en-US" dirty="0"/>
          </a:p>
        </p:txBody>
      </p:sp>
      <p:sp>
        <p:nvSpPr>
          <p:cNvPr id="7" name="Google Shape;213;p37"/>
          <p:cNvSpPr txBox="1"/>
          <p:nvPr/>
        </p:nvSpPr>
        <p:spPr>
          <a:xfrm>
            <a:off x="4840842" y="3546607"/>
            <a:ext cx="538480" cy="4425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09</a:t>
            </a:r>
            <a:endParaRPr lang="en-GB" dirty="0"/>
          </a:p>
        </p:txBody>
      </p:sp>
      <p:sp>
        <p:nvSpPr>
          <p:cNvPr id="8" name="Google Shape;214;p37"/>
          <p:cNvSpPr txBox="1"/>
          <p:nvPr/>
        </p:nvSpPr>
        <p:spPr>
          <a:xfrm>
            <a:off x="5379322" y="3523429"/>
            <a:ext cx="2745630" cy="4889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/>
            <a:r>
              <a:rPr lang="en-US" b="1" dirty="0"/>
              <a:t>Techniques and tools</a:t>
            </a:r>
            <a:endParaRPr lang="en-US" altLang="en-US" b="1" dirty="0"/>
          </a:p>
        </p:txBody>
      </p:sp>
      <p:sp>
        <p:nvSpPr>
          <p:cNvPr id="9" name="Google Shape;213;p37"/>
          <p:cNvSpPr txBox="1"/>
          <p:nvPr/>
        </p:nvSpPr>
        <p:spPr>
          <a:xfrm>
            <a:off x="589560" y="3520282"/>
            <a:ext cx="538480" cy="4425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04</a:t>
            </a:r>
            <a:endParaRPr lang="en-GB" dirty="0"/>
          </a:p>
        </p:txBody>
      </p:sp>
      <p:sp>
        <p:nvSpPr>
          <p:cNvPr id="10" name="Google Shape;214;p37"/>
          <p:cNvSpPr txBox="1"/>
          <p:nvPr/>
        </p:nvSpPr>
        <p:spPr>
          <a:xfrm>
            <a:off x="1128040" y="4292162"/>
            <a:ext cx="2495042" cy="4889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>
                <a:sym typeface="+mn-ea"/>
              </a:rPr>
              <a:t>Related Works</a:t>
            </a:r>
            <a:endParaRPr lang="en-US" alt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dirty="0"/>
          </a:p>
        </p:txBody>
      </p:sp>
      <p:sp>
        <p:nvSpPr>
          <p:cNvPr id="11" name="Google Shape;213;p37"/>
          <p:cNvSpPr txBox="1"/>
          <p:nvPr/>
        </p:nvSpPr>
        <p:spPr>
          <a:xfrm>
            <a:off x="4874145" y="4149464"/>
            <a:ext cx="538480" cy="4023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10</a:t>
            </a:r>
            <a:endParaRPr lang="en-GB" dirty="0"/>
          </a:p>
        </p:txBody>
      </p:sp>
      <p:sp>
        <p:nvSpPr>
          <p:cNvPr id="12" name="Google Shape;214;p37"/>
          <p:cNvSpPr txBox="1"/>
          <p:nvPr/>
        </p:nvSpPr>
        <p:spPr>
          <a:xfrm>
            <a:off x="5412625" y="4128393"/>
            <a:ext cx="2268220" cy="444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/>
            <a:r>
              <a:rPr lang="en-US" altLang="en-US" dirty="0"/>
              <a:t>References</a:t>
            </a:r>
            <a:endParaRPr lang="en-US" altLang="en-US" dirty="0"/>
          </a:p>
        </p:txBody>
      </p:sp>
      <p:sp>
        <p:nvSpPr>
          <p:cNvPr id="25" name="Google Shape;213;p37"/>
          <p:cNvSpPr txBox="1"/>
          <p:nvPr/>
        </p:nvSpPr>
        <p:spPr>
          <a:xfrm>
            <a:off x="601117" y="4266980"/>
            <a:ext cx="538480" cy="4425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05</a:t>
            </a:r>
            <a:endParaRPr lang="en-GB" dirty="0"/>
          </a:p>
        </p:txBody>
      </p:sp>
      <p:sp>
        <p:nvSpPr>
          <p:cNvPr id="26" name="Google Shape;214;p37"/>
          <p:cNvSpPr txBox="1"/>
          <p:nvPr/>
        </p:nvSpPr>
        <p:spPr>
          <a:xfrm>
            <a:off x="1080949" y="2839138"/>
            <a:ext cx="2495042" cy="4889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/>
            <a:r>
              <a:rPr lang="en-US" altLang="en-US" b="1" dirty="0"/>
              <a:t>overview</a:t>
            </a: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010" y="2074545"/>
            <a:ext cx="1181735" cy="1253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xfrm>
            <a:off x="7345680" y="535305"/>
            <a:ext cx="1083310" cy="387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>
                <a:sym typeface="+mn-ea"/>
              </a:rPr>
              <a:t>Semsary</a:t>
            </a:r>
            <a:endParaRPr lang="en-GB"/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539115" y="915035"/>
            <a:ext cx="7873365" cy="3808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dirty="0" err="1">
                <a:latin typeface="+mj-lt"/>
              </a:rPr>
              <a:t>Semsary</a:t>
            </a:r>
            <a:r>
              <a:rPr lang="en-US" altLang="en-US" sz="1600" dirty="0">
                <a:latin typeface="+mj-lt"/>
              </a:rPr>
              <a:t> is a web-based rental management system built to simplify rental processes for tenants, landlords, and families. It consolidates reliable rental, automates price assessments, and ensures secure booking.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dirty="0" err="1">
                <a:latin typeface="+mj-lt"/>
              </a:rPr>
              <a:t>Semsary</a:t>
            </a:r>
            <a:r>
              <a:rPr lang="en-US" altLang="en-US" sz="1600" dirty="0">
                <a:latin typeface="+mj-lt"/>
              </a:rPr>
              <a:t> uses machine learning to ensure fair rental pricing and market transparency while minimizing fraud. It offers advanced filters for apartment searches, verified reviews, and location-based insights to support informed decisions. It also recommends apartments based on user behavior.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395060" y="4111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/>
              <a:t>Abstract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489601" y="915035"/>
            <a:ext cx="8395200" cy="3808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dirty="0">
                <a:latin typeface="+mj-lt"/>
              </a:rPr>
              <a:t>scams and fraudulent activities in the rental process.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dirty="0">
                <a:latin typeface="+mj-lt"/>
              </a:rPr>
              <a:t>Insufficient information about apartment features.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dirty="0">
                <a:latin typeface="+mj-lt"/>
              </a:rPr>
              <a:t>Challenges in finding apartments that align with individual preferences and needs.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dirty="0">
                <a:latin typeface="+mj-lt"/>
              </a:rPr>
              <a:t>Limited marketing exposure for quality apartments.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dirty="0">
                <a:latin typeface="+mj-lt"/>
              </a:rPr>
              <a:t>Difficulty in establishing direct and effective communication with landlords.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dirty="0">
                <a:latin typeface="+mj-lt"/>
              </a:rPr>
              <a:t>Lack of consistency in financial transactions during the rental process.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395060" y="4111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problem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539115" y="915035"/>
            <a:ext cx="7873365" cy="3808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>
                <a:latin typeface="+mj-lt"/>
              </a:rPr>
              <a:t>Providing credibility of apartment information.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>
                <a:latin typeface="+mj-lt"/>
              </a:rPr>
              <a:t>Providing all the information the tenant needs to make a decision.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 smtClean="0">
                <a:latin typeface="+mj-lt"/>
              </a:rPr>
              <a:t>Display </a:t>
            </a:r>
            <a:r>
              <a:rPr lang="en-US" altLang="en-US" sz="1800" dirty="0">
                <a:latin typeface="+mj-lt"/>
              </a:rPr>
              <a:t>apartment ads that suit each tenant's preferences individually.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>
                <a:latin typeface="+mj-lt"/>
              </a:rPr>
              <a:t>Effective display of apartments for their target audience.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 dirty="0">
                <a:latin typeface="+mj-lt"/>
              </a:rPr>
              <a:t>Ensuring security in financial dealings for the owner and the tenant.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395060" y="4111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/>
              <a:t>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539115" y="915035"/>
            <a:ext cx="7873365" cy="38087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Connecting landlords with the largest number of potential tenants for their apartments.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Facilitating the rental process for tenants.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Providing knowledge of the fair price of the apartment.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Providing a safe and reliable environment for renting between the landlord and the tenant.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395060" y="4111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 smtClean="0"/>
              <a:t>objectives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>
                <a:sym typeface="+mn-ea"/>
              </a:rPr>
              <a:t>Related Works</a:t>
            </a:r>
            <a:endParaRPr lang="en-US" altLang="en-US" b="1"/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2</a:t>
            </a:r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xfrm>
            <a:off x="4572000" y="535305"/>
            <a:ext cx="4082415" cy="387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Semsary</a:t>
            </a:r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95580"/>
            <a:ext cx="2665730" cy="575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/>
              <a:t>Related Works</a:t>
            </a:r>
          </a:p>
        </p:txBody>
      </p:sp>
      <p:sp>
        <p:nvSpPr>
          <p:cNvPr id="8" name="Google Shape;264;p43"/>
          <p:cNvSpPr txBox="1"/>
          <p:nvPr/>
        </p:nvSpPr>
        <p:spPr>
          <a:xfrm>
            <a:off x="179705" y="627380"/>
            <a:ext cx="2423160" cy="382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400">
                <a:latin typeface="Albert Sans" charset="0"/>
                <a:cs typeface="Albert Sans" charset="0"/>
              </a:rPr>
              <a:t>Aqaryamasr </a:t>
            </a:r>
          </a:p>
        </p:txBody>
      </p:sp>
      <p:pic>
        <p:nvPicPr>
          <p:cNvPr id="33" name="Picture 33" descr="screely-1735731375155"/>
          <p:cNvPicPr>
            <a:picLocks noChangeAspect="1"/>
          </p:cNvPicPr>
          <p:nvPr/>
        </p:nvPicPr>
        <p:blipFill>
          <a:blip r:embed="rId3"/>
          <a:srcRect l="2330" t="3982" r="2558" b="4100"/>
          <a:stretch>
            <a:fillRect/>
          </a:stretch>
        </p:blipFill>
        <p:spPr>
          <a:xfrm>
            <a:off x="2461895" y="1440180"/>
            <a:ext cx="6470015" cy="35109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Picture 40" descr="logo-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956550" y="411480"/>
            <a:ext cx="871855" cy="473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95580"/>
            <a:ext cx="2665730" cy="575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/>
              <a:t>Related Works</a:t>
            </a:r>
          </a:p>
        </p:txBody>
      </p:sp>
      <p:sp>
        <p:nvSpPr>
          <p:cNvPr id="8" name="Google Shape;264;p43"/>
          <p:cNvSpPr txBox="1"/>
          <p:nvPr/>
        </p:nvSpPr>
        <p:spPr>
          <a:xfrm>
            <a:off x="179705" y="627380"/>
            <a:ext cx="2423160" cy="382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lbert Sans" charset="0"/>
                <a:cs typeface="Albert Sans" charset="0"/>
              </a:rPr>
              <a:t>Bayut</a:t>
            </a:r>
          </a:p>
        </p:txBody>
      </p:sp>
      <p:pic>
        <p:nvPicPr>
          <p:cNvPr id="30" name="Picture 30" descr="screely-1735731246979"/>
          <p:cNvPicPr>
            <a:picLocks noChangeAspect="1"/>
          </p:cNvPicPr>
          <p:nvPr/>
        </p:nvPicPr>
        <p:blipFill>
          <a:blip r:embed="rId3"/>
          <a:srcRect l="2966" t="4892" r="2769" b="5158"/>
          <a:stretch>
            <a:fillRect/>
          </a:stretch>
        </p:blipFill>
        <p:spPr>
          <a:xfrm>
            <a:off x="2603500" y="1517015"/>
            <a:ext cx="6350000" cy="34188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2" descr="bayut-logo-g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440" y="483870"/>
            <a:ext cx="1287780" cy="347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95580"/>
            <a:ext cx="2665730" cy="5753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/>
              <a:t>Related Works</a:t>
            </a:r>
          </a:p>
        </p:txBody>
      </p:sp>
      <p:pic>
        <p:nvPicPr>
          <p:cNvPr id="17" name="Picture 17" descr="screely-1735727168315"/>
          <p:cNvPicPr>
            <a:picLocks noChangeAspect="1"/>
          </p:cNvPicPr>
          <p:nvPr/>
        </p:nvPicPr>
        <p:blipFill>
          <a:blip r:embed="rId3"/>
          <a:srcRect l="1999" t="5172" r="1957" b="5348"/>
          <a:stretch>
            <a:fillRect/>
          </a:stretch>
        </p:blipFill>
        <p:spPr>
          <a:xfrm>
            <a:off x="2664460" y="1493520"/>
            <a:ext cx="6274435" cy="33851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4;p43"/>
          <p:cNvSpPr txBox="1"/>
          <p:nvPr/>
        </p:nvSpPr>
        <p:spPr>
          <a:xfrm>
            <a:off x="179705" y="627380"/>
            <a:ext cx="2423160" cy="382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lbert Sans" charset="0"/>
                <a:cs typeface="Albert Sans" charset="0"/>
              </a:rPr>
              <a:t>Airbnb</a:t>
            </a:r>
          </a:p>
        </p:txBody>
      </p:sp>
      <p:pic>
        <p:nvPicPr>
          <p:cNvPr id="21" name="Picture 4" descr="IMG_25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7808" y="555308"/>
            <a:ext cx="936625" cy="2914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681990" y="3328035"/>
            <a:ext cx="7638415" cy="1253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>
                <a:sym typeface="+mn-ea"/>
              </a:rPr>
              <a:t>System UI</a:t>
            </a:r>
            <a:endParaRPr lang="en-US" altLang="en-US" b="1"/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010" y="2074545"/>
            <a:ext cx="1413510" cy="1253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3</a:t>
            </a:r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xfrm>
            <a:off x="4572000" y="535305"/>
            <a:ext cx="4082415" cy="387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Semsary</a:t>
            </a:r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1882140" cy="583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System UI</a:t>
            </a:r>
          </a:p>
        </p:txBody>
      </p:sp>
      <p:pic>
        <p:nvPicPr>
          <p:cNvPr id="14" name="Picture 13" descr="screely-1737211608634"/>
          <p:cNvPicPr>
            <a:picLocks noChangeAspect="1"/>
          </p:cNvPicPr>
          <p:nvPr/>
        </p:nvPicPr>
        <p:blipFill>
          <a:blip r:embed="rId3"/>
          <a:srcRect l="4514" t="6417" r="4783" b="6594"/>
          <a:stretch>
            <a:fillRect/>
          </a:stretch>
        </p:blipFill>
        <p:spPr>
          <a:xfrm>
            <a:off x="107950" y="1563370"/>
            <a:ext cx="4331335" cy="22993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94;p45"/>
          <p:cNvSpPr txBox="1"/>
          <p:nvPr/>
        </p:nvSpPr>
        <p:spPr>
          <a:xfrm>
            <a:off x="125984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ar-EG" sz="1200"/>
              <a:t>Home Page</a:t>
            </a:r>
          </a:p>
        </p:txBody>
      </p:sp>
      <p:sp>
        <p:nvSpPr>
          <p:cNvPr id="18" name="Google Shape;294;p45"/>
          <p:cNvSpPr txBox="1"/>
          <p:nvPr/>
        </p:nvSpPr>
        <p:spPr>
          <a:xfrm>
            <a:off x="586867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Apartment details</a:t>
            </a:r>
          </a:p>
        </p:txBody>
      </p:sp>
      <p:pic>
        <p:nvPicPr>
          <p:cNvPr id="19" name="Picture 18" descr="System Ui  (16)"/>
          <p:cNvPicPr>
            <a:picLocks noChangeAspect="1"/>
          </p:cNvPicPr>
          <p:nvPr/>
        </p:nvPicPr>
        <p:blipFill>
          <a:blip r:embed="rId4"/>
          <a:srcRect l="4722" t="5628" r="4722" b="7020"/>
          <a:stretch>
            <a:fillRect/>
          </a:stretch>
        </p:blipFill>
        <p:spPr>
          <a:xfrm>
            <a:off x="4541520" y="1544955"/>
            <a:ext cx="4297680" cy="23177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1882140" cy="583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 dirty="0"/>
              <a:t>System UI</a:t>
            </a:r>
          </a:p>
        </p:txBody>
      </p:sp>
      <p:pic>
        <p:nvPicPr>
          <p:cNvPr id="14" name="Picture 13" descr="P:\Graduation Project\SemSary\docs\ui_ux design\System Ui  (1).pngSystem Ui  (1)"/>
          <p:cNvPicPr>
            <a:picLocks noChangeAspect="1"/>
          </p:cNvPicPr>
          <p:nvPr/>
        </p:nvPicPr>
        <p:blipFill>
          <a:blip r:embed="rId3"/>
          <a:srcRect l="4633" t="6081" r="4647" b="6265"/>
          <a:stretch>
            <a:fillRect/>
          </a:stretch>
        </p:blipFill>
        <p:spPr>
          <a:xfrm>
            <a:off x="179705" y="1635125"/>
            <a:ext cx="4231640" cy="228536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94;p45"/>
          <p:cNvSpPr txBox="1"/>
          <p:nvPr/>
        </p:nvSpPr>
        <p:spPr>
          <a:xfrm>
            <a:off x="125984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Admin Login</a:t>
            </a:r>
          </a:p>
        </p:txBody>
      </p:sp>
      <p:sp>
        <p:nvSpPr>
          <p:cNvPr id="18" name="Google Shape;294;p45"/>
          <p:cNvSpPr txBox="1"/>
          <p:nvPr/>
        </p:nvSpPr>
        <p:spPr>
          <a:xfrm>
            <a:off x="586867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Users Login</a:t>
            </a:r>
          </a:p>
        </p:txBody>
      </p:sp>
      <p:pic>
        <p:nvPicPr>
          <p:cNvPr id="19" name="Picture 18" descr="C:/Users/Badawy/Downloads/screely-1737215694948.pngscreely-1737215694948"/>
          <p:cNvPicPr>
            <a:picLocks noChangeAspect="1"/>
          </p:cNvPicPr>
          <p:nvPr/>
        </p:nvPicPr>
        <p:blipFill>
          <a:blip r:embed="rId4"/>
          <a:srcRect l="4494" t="6021" r="4618" b="6104"/>
          <a:stretch>
            <a:fillRect/>
          </a:stretch>
        </p:blipFill>
        <p:spPr>
          <a:xfrm>
            <a:off x="4512310" y="1635125"/>
            <a:ext cx="4226560" cy="22847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1882140" cy="583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System UI</a:t>
            </a:r>
          </a:p>
        </p:txBody>
      </p:sp>
      <p:pic>
        <p:nvPicPr>
          <p:cNvPr id="14" name="Picture 13" descr="P:\Graduation Project\SemSary\docs\ui_ux design\System Ui  (2).pngSystem Ui  (2)"/>
          <p:cNvPicPr>
            <a:picLocks noChangeAspect="1"/>
          </p:cNvPicPr>
          <p:nvPr/>
        </p:nvPicPr>
        <p:blipFill>
          <a:blip r:embed="rId3"/>
          <a:srcRect l="4680" t="6160" r="4355" b="6520"/>
          <a:stretch>
            <a:fillRect/>
          </a:stretch>
        </p:blipFill>
        <p:spPr>
          <a:xfrm>
            <a:off x="179705" y="1635125"/>
            <a:ext cx="4259580" cy="2286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94;p45"/>
          <p:cNvSpPr txBox="1"/>
          <p:nvPr/>
        </p:nvSpPr>
        <p:spPr>
          <a:xfrm>
            <a:off x="125984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Conversations </a:t>
            </a:r>
          </a:p>
        </p:txBody>
      </p:sp>
      <p:sp>
        <p:nvSpPr>
          <p:cNvPr id="18" name="Google Shape;294;p45"/>
          <p:cNvSpPr txBox="1"/>
          <p:nvPr/>
        </p:nvSpPr>
        <p:spPr>
          <a:xfrm>
            <a:off x="586867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 Contact Us page</a:t>
            </a:r>
          </a:p>
        </p:txBody>
      </p:sp>
      <p:pic>
        <p:nvPicPr>
          <p:cNvPr id="19" name="Picture 18" descr="P:\Graduation Project\SemSary\docs\ui_ux design\System Ui  (7).pngSystem Ui  (7)"/>
          <p:cNvPicPr>
            <a:picLocks noChangeAspect="1"/>
          </p:cNvPicPr>
          <p:nvPr/>
        </p:nvPicPr>
        <p:blipFill>
          <a:blip r:embed="rId4"/>
          <a:srcRect l="4592" t="6187" r="4621" b="6080"/>
          <a:stretch>
            <a:fillRect/>
          </a:stretch>
        </p:blipFill>
        <p:spPr>
          <a:xfrm>
            <a:off x="4572000" y="1635125"/>
            <a:ext cx="4222115" cy="228092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1882140" cy="583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System UI</a:t>
            </a:r>
          </a:p>
        </p:txBody>
      </p:sp>
      <p:pic>
        <p:nvPicPr>
          <p:cNvPr id="14" name="Picture 13" descr="P:\Graduation Project\SemSary\docs\ui_ux design\System Ui  (6).pngSystem Ui  (6)"/>
          <p:cNvPicPr>
            <a:picLocks noChangeAspect="1"/>
          </p:cNvPicPr>
          <p:nvPr/>
        </p:nvPicPr>
        <p:blipFill>
          <a:blip r:embed="rId3"/>
          <a:srcRect l="4711" t="6238" r="4577" b="6291"/>
          <a:stretch>
            <a:fillRect/>
          </a:stretch>
        </p:blipFill>
        <p:spPr>
          <a:xfrm>
            <a:off x="179705" y="1635760"/>
            <a:ext cx="4271645" cy="23025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94;p45"/>
          <p:cNvSpPr txBox="1"/>
          <p:nvPr/>
        </p:nvSpPr>
        <p:spPr>
          <a:xfrm>
            <a:off x="125984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User reviews</a:t>
            </a:r>
          </a:p>
        </p:txBody>
      </p:sp>
      <p:sp>
        <p:nvSpPr>
          <p:cNvPr id="18" name="Google Shape;294;p45"/>
          <p:cNvSpPr txBox="1"/>
          <p:nvPr/>
        </p:nvSpPr>
        <p:spPr>
          <a:xfrm>
            <a:off x="586867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Profile Page</a:t>
            </a:r>
          </a:p>
        </p:txBody>
      </p:sp>
      <p:pic>
        <p:nvPicPr>
          <p:cNvPr id="19" name="Picture 18" descr="C:/Users/Badawy/Downloads/screely-1737210900683.pngscreely-1737210900683"/>
          <p:cNvPicPr>
            <a:picLocks noChangeAspect="1"/>
          </p:cNvPicPr>
          <p:nvPr/>
        </p:nvPicPr>
        <p:blipFill>
          <a:blip r:embed="rId4"/>
          <a:srcRect l="5054" t="6246" r="4468" b="6865"/>
          <a:stretch>
            <a:fillRect/>
          </a:stretch>
        </p:blipFill>
        <p:spPr>
          <a:xfrm>
            <a:off x="4643755" y="1635760"/>
            <a:ext cx="4288790" cy="23025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1882140" cy="5835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System UI</a:t>
            </a:r>
          </a:p>
        </p:txBody>
      </p:sp>
      <p:pic>
        <p:nvPicPr>
          <p:cNvPr id="14" name="Picture 13" descr="P:/Graduation Project/SemSary/docs/ui_ux design/System Ui  (13).pngSystem Ui  (13)"/>
          <p:cNvPicPr>
            <a:picLocks noChangeAspect="1"/>
          </p:cNvPicPr>
          <p:nvPr/>
        </p:nvPicPr>
        <p:blipFill>
          <a:blip r:embed="rId3"/>
          <a:srcRect l="4697" t="6491" r="4623" b="6411"/>
          <a:stretch>
            <a:fillRect/>
          </a:stretch>
        </p:blipFill>
        <p:spPr>
          <a:xfrm>
            <a:off x="207010" y="1707515"/>
            <a:ext cx="4284345" cy="23006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94;p45"/>
          <p:cNvSpPr txBox="1"/>
          <p:nvPr/>
        </p:nvSpPr>
        <p:spPr>
          <a:xfrm>
            <a:off x="1475740" y="127825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Add Apartment </a:t>
            </a:r>
          </a:p>
        </p:txBody>
      </p:sp>
      <p:sp>
        <p:nvSpPr>
          <p:cNvPr id="18" name="Google Shape;294;p45"/>
          <p:cNvSpPr txBox="1"/>
          <p:nvPr/>
        </p:nvSpPr>
        <p:spPr>
          <a:xfrm>
            <a:off x="5868670" y="1205865"/>
            <a:ext cx="1821815" cy="28575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Add Apartment </a:t>
            </a:r>
          </a:p>
        </p:txBody>
      </p:sp>
      <p:pic>
        <p:nvPicPr>
          <p:cNvPr id="19" name="Picture 18" descr="P:\Graduation Project\SemSary\docs\ui_ux design\System Ui  (10).pngSystem Ui  (10)"/>
          <p:cNvPicPr>
            <a:picLocks noChangeAspect="1"/>
          </p:cNvPicPr>
          <p:nvPr/>
        </p:nvPicPr>
        <p:blipFill>
          <a:blip r:embed="rId4"/>
          <a:srcRect l="4605" t="6224" r="4560" b="6144"/>
          <a:stretch>
            <a:fillRect/>
          </a:stretch>
        </p:blipFill>
        <p:spPr>
          <a:xfrm>
            <a:off x="4665345" y="1707515"/>
            <a:ext cx="4309110" cy="23006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/>
              <a:t>Use Case</a:t>
            </a:r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/>
              <a:t>4</a:t>
            </a:r>
            <a:endParaRPr lang="en-US" altLang="en-GB" dirty="0"/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xfrm>
            <a:off x="4572000" y="535305"/>
            <a:ext cx="4082415" cy="387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Semsary</a:t>
            </a:r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251550" y="1952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/>
              <a:t>Use Case Diagram</a:t>
            </a:r>
          </a:p>
        </p:txBody>
      </p:sp>
      <p:sp>
        <p:nvSpPr>
          <p:cNvPr id="8" name="Google Shape;264;p43"/>
          <p:cNvSpPr txBox="1"/>
          <p:nvPr/>
        </p:nvSpPr>
        <p:spPr>
          <a:xfrm>
            <a:off x="273060" y="699770"/>
            <a:ext cx="2423160" cy="382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dirty="0"/>
              <a:t>tenant</a:t>
            </a:r>
            <a:r>
              <a:rPr lang="ar-EG" altLang="en-US" sz="1200" dirty="0"/>
              <a:t> </a:t>
            </a:r>
            <a:r>
              <a:rPr lang="en-US" altLang="en-US" sz="1200" dirty="0"/>
              <a:t>use</a:t>
            </a:r>
            <a:r>
              <a:rPr lang="ar-EG" altLang="en-US" sz="1200" dirty="0"/>
              <a:t> </a:t>
            </a:r>
            <a:r>
              <a:rPr lang="en-US" altLang="en-US" sz="1200" dirty="0"/>
              <a:t>case</a:t>
            </a:r>
          </a:p>
        </p:txBody>
      </p:sp>
      <p:pic>
        <p:nvPicPr>
          <p:cNvPr id="2" name="Picture 1" descr="C:\Users\Badawy\Desktop\New folder\tenant (1).jpgtenant (1)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4207" t="5119" r="1558"/>
          <a:stretch>
            <a:fillRect/>
          </a:stretch>
        </p:blipFill>
        <p:spPr>
          <a:xfrm>
            <a:off x="3504565" y="245745"/>
            <a:ext cx="3659505" cy="4897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251550" y="1952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Use Case Diagram</a:t>
            </a:r>
          </a:p>
        </p:txBody>
      </p:sp>
      <p:sp>
        <p:nvSpPr>
          <p:cNvPr id="8" name="Google Shape;264;p43"/>
          <p:cNvSpPr txBox="1"/>
          <p:nvPr/>
        </p:nvSpPr>
        <p:spPr>
          <a:xfrm>
            <a:off x="251460" y="699770"/>
            <a:ext cx="2423160" cy="382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 dirty="0"/>
              <a:t>landlord</a:t>
            </a:r>
            <a:r>
              <a:rPr lang="ar-EG" altLang="en-US" sz="1200" dirty="0"/>
              <a:t> </a:t>
            </a:r>
            <a:r>
              <a:rPr lang="en-US" altLang="en-US" sz="1200" dirty="0"/>
              <a:t>service</a:t>
            </a:r>
          </a:p>
        </p:txBody>
      </p:sp>
      <p:pic>
        <p:nvPicPr>
          <p:cNvPr id="2" name="Picture 1" descr="C:\Users\Badawy\Desktop\New folder\Landlord (1).jpgLandlord (1)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-1927" t="4696" r="1927" b="1273"/>
          <a:stretch>
            <a:fillRect/>
          </a:stretch>
        </p:blipFill>
        <p:spPr>
          <a:xfrm>
            <a:off x="3420110" y="149225"/>
            <a:ext cx="3723640" cy="4850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251550" y="1952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Use Case Diagram</a:t>
            </a:r>
          </a:p>
        </p:txBody>
      </p:sp>
      <p:pic>
        <p:nvPicPr>
          <p:cNvPr id="2" name="Picture 1" descr="admin (3)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0600" t="12219"/>
          <a:stretch>
            <a:fillRect/>
          </a:stretch>
        </p:blipFill>
        <p:spPr>
          <a:xfrm>
            <a:off x="5292090" y="1161415"/>
            <a:ext cx="3641725" cy="3187700"/>
          </a:xfrm>
          <a:prstGeom prst="rect">
            <a:avLst/>
          </a:prstGeom>
        </p:spPr>
      </p:pic>
      <p:pic>
        <p:nvPicPr>
          <p:cNvPr id="6" name="Picture 5" descr="C:\Users\Badawy\Desktop\New folder\customer_service (1).jpgcustomer_service (1)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9679" b="-503"/>
          <a:stretch>
            <a:fillRect/>
          </a:stretch>
        </p:blipFill>
        <p:spPr>
          <a:xfrm>
            <a:off x="611505" y="1161415"/>
            <a:ext cx="3100070" cy="315658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4572000" y="1161415"/>
            <a:ext cx="0" cy="30835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Google Shape;264;p43"/>
          <p:cNvSpPr txBox="1"/>
          <p:nvPr/>
        </p:nvSpPr>
        <p:spPr>
          <a:xfrm>
            <a:off x="875030" y="4244975"/>
            <a:ext cx="2423160" cy="382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customer service</a:t>
            </a:r>
          </a:p>
        </p:txBody>
      </p:sp>
      <p:sp>
        <p:nvSpPr>
          <p:cNvPr id="9" name="Google Shape;264;p43"/>
          <p:cNvSpPr txBox="1"/>
          <p:nvPr/>
        </p:nvSpPr>
        <p:spPr>
          <a:xfrm>
            <a:off x="5363845" y="4156075"/>
            <a:ext cx="2423160" cy="38290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/>
              <a:t>system administrator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5400" b="1">
                <a:sym typeface="+mn-ea"/>
              </a:rPr>
              <a:t>System Architecture</a:t>
            </a:r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/>
              <a:t>5</a:t>
            </a:r>
            <a:endParaRPr lang="en-US" altLang="en-GB" dirty="0"/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xfrm>
            <a:off x="4572000" y="535305"/>
            <a:ext cx="4082415" cy="387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Semsary</a:t>
            </a:r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3806825" cy="568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/>
              <a:t>System Architecture</a:t>
            </a:r>
          </a:p>
        </p:txBody>
      </p:sp>
      <p:pic>
        <p:nvPicPr>
          <p:cNvPr id="2" name="Picture 1" descr="system architecture diagram (3)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0400" y="692150"/>
            <a:ext cx="6724800" cy="4452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5400" b="1" dirty="0" smtClean="0">
                <a:sym typeface="+mn-ea"/>
              </a:rPr>
              <a:t>Data Collection</a:t>
            </a:r>
            <a:endParaRPr lang="en-US" altLang="en-US" sz="5400" b="1" dirty="0">
              <a:sym typeface="+mn-ea"/>
            </a:endParaRPr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0</a:t>
            </a:r>
            <a:r>
              <a:rPr lang="en-US" dirty="0" smtClean="0"/>
              <a:t>6	</a:t>
            </a:r>
            <a:endParaRPr lang="en-US" altLang="en-GB" dirty="0"/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xfrm>
            <a:off x="4572000" y="535305"/>
            <a:ext cx="4082415" cy="387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b="1"/>
              <a:t>Semsary</a:t>
            </a:r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4637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3806825" cy="568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 smtClean="0"/>
              <a:t>Data Collection </a:t>
            </a:r>
            <a:endParaRPr lang="en-US" alt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878400"/>
            <a:ext cx="7300800" cy="41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9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3806825" cy="568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 smtClean="0"/>
              <a:t>Data Collection </a:t>
            </a:r>
            <a:endParaRPr lang="en-US" alt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838406"/>
            <a:ext cx="7446918" cy="418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19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179705" y="123825"/>
            <a:ext cx="3806825" cy="568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1" dirty="0" smtClean="0"/>
              <a:t>Data Collection </a:t>
            </a:r>
            <a:endParaRPr lang="en-US" alt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800" y="833850"/>
            <a:ext cx="7149600" cy="40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4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8;p61"/>
          <p:cNvSpPr txBox="1">
            <a:spLocks noGrp="1"/>
          </p:cNvSpPr>
          <p:nvPr>
            <p:ph type="title"/>
          </p:nvPr>
        </p:nvSpPr>
        <p:spPr>
          <a:xfrm>
            <a:off x="251550" y="26703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Techniques and tools</a:t>
            </a:r>
            <a:endParaRPr lang="en-US" altLang="en-US" sz="2400" dirty="0"/>
          </a:p>
        </p:txBody>
      </p:sp>
      <p:sp>
        <p:nvSpPr>
          <p:cNvPr id="5" name="Text Box 4"/>
          <p:cNvSpPr txBox="1"/>
          <p:nvPr/>
        </p:nvSpPr>
        <p:spPr>
          <a:xfrm>
            <a:off x="194400" y="1131570"/>
            <a:ext cx="2368800" cy="759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228600" algn="ctr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1700" b="1" dirty="0" smtClean="0">
                <a:latin typeface="Calibri" panose="020F0502020204030204"/>
                <a:ea typeface="Calibri" panose="020F0502020204030204"/>
              </a:rPr>
              <a:t>Frontend</a:t>
            </a:r>
          </a:p>
          <a:p>
            <a:pPr marL="457200" indent="-228600" algn="ctr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1800" b="1" dirty="0">
                <a:solidFill>
                  <a:schemeClr val="tx1"/>
                </a:solidFill>
                <a:latin typeface="Calibri" panose="020F0502020204030204"/>
                <a:ea typeface="Calibri" panose="020F0502020204030204"/>
              </a:rPr>
              <a:t>React JS</a:t>
            </a:r>
            <a:endParaRPr lang="en-US" altLang="zh-CN" sz="1200" b="1" dirty="0">
              <a:solidFill>
                <a:schemeClr val="tx1"/>
              </a:solidFill>
              <a:latin typeface="Calibri" panose="020F0502020204030204"/>
              <a:ea typeface="Calibri" panose="020F0502020204030204"/>
            </a:endParaRPr>
          </a:p>
        </p:txBody>
      </p:sp>
      <p:pic>
        <p:nvPicPr>
          <p:cNvPr id="6" name="Picture 5" descr="react-original-wordmark-icon-840x1024-vhmauxp6"/>
          <p:cNvPicPr/>
          <p:nvPr/>
        </p:nvPicPr>
        <p:blipFill>
          <a:blip r:embed="rId3"/>
          <a:stretch>
            <a:fillRect/>
          </a:stretch>
        </p:blipFill>
        <p:spPr>
          <a:xfrm>
            <a:off x="945257" y="2456003"/>
            <a:ext cx="1106741" cy="1350095"/>
          </a:xfrm>
          <a:prstGeom prst="rect">
            <a:avLst/>
          </a:prstGeom>
        </p:spPr>
      </p:pic>
      <p:pic>
        <p:nvPicPr>
          <p:cNvPr id="8" name="Picture 7" descr="IMG_256"/>
          <p:cNvPicPr/>
          <p:nvPr/>
        </p:nvPicPr>
        <p:blipFill>
          <a:blip r:embed="rId4"/>
          <a:stretch>
            <a:fillRect/>
          </a:stretch>
        </p:blipFill>
        <p:spPr>
          <a:xfrm>
            <a:off x="3756190" y="3414228"/>
            <a:ext cx="1430020" cy="7918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 8" descr="IMG_256"/>
          <p:cNvPicPr/>
          <p:nvPr/>
        </p:nvPicPr>
        <p:blipFill>
          <a:blip r:embed="rId5"/>
          <a:stretch>
            <a:fillRect/>
          </a:stretch>
        </p:blipFill>
        <p:spPr>
          <a:xfrm>
            <a:off x="3967327" y="2118207"/>
            <a:ext cx="1007745" cy="11347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9" descr="IMG_256"/>
          <p:cNvPicPr/>
          <p:nvPr/>
        </p:nvPicPr>
        <p:blipFill>
          <a:blip r:embed="rId6"/>
          <a:stretch>
            <a:fillRect/>
          </a:stretch>
        </p:blipFill>
        <p:spPr>
          <a:xfrm>
            <a:off x="3638090" y="4367349"/>
            <a:ext cx="1666218" cy="4243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10" descr="IMG_256"/>
          <p:cNvPicPr/>
          <p:nvPr/>
        </p:nvPicPr>
        <p:blipFill>
          <a:blip r:embed="rId7"/>
          <a:srcRect l="21986"/>
          <a:stretch>
            <a:fillRect/>
          </a:stretch>
        </p:blipFill>
        <p:spPr>
          <a:xfrm>
            <a:off x="7330132" y="2337282"/>
            <a:ext cx="1270635" cy="9156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Picture 11" descr="IMG_256"/>
          <p:cNvPicPr/>
          <p:nvPr/>
        </p:nvPicPr>
        <p:blipFill>
          <a:blip r:embed="rId8"/>
          <a:stretch>
            <a:fillRect/>
          </a:stretch>
        </p:blipFill>
        <p:spPr>
          <a:xfrm>
            <a:off x="6997427" y="3649178"/>
            <a:ext cx="1742440" cy="11137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Picture 12" descr="IMG_256"/>
          <p:cNvPicPr/>
          <p:nvPr/>
        </p:nvPicPr>
        <p:blipFill>
          <a:blip r:embed="rId9"/>
          <a:srcRect l="445" t="35183" r="-445" b="33638"/>
          <a:stretch>
            <a:fillRect/>
          </a:stretch>
        </p:blipFill>
        <p:spPr>
          <a:xfrm>
            <a:off x="736266" y="4206073"/>
            <a:ext cx="1524725" cy="2641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Text Box 4"/>
          <p:cNvSpPr txBox="1"/>
          <p:nvPr/>
        </p:nvSpPr>
        <p:spPr>
          <a:xfrm>
            <a:off x="3286799" y="1087377"/>
            <a:ext cx="2368800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228600" algn="ctr" defTabSz="266700">
              <a:spcBef>
                <a:spcPts val="500"/>
              </a:spcBef>
              <a:spcAft>
                <a:spcPts val="500"/>
              </a:spcAft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</a:t>
            </a:r>
            <a:endParaRPr lang="en-US" sz="18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228600" algn="ctr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1800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b="1" dirty="0"/>
              <a:t> NET </a:t>
            </a:r>
            <a:endParaRPr lang="en-US" altLang="zh-CN" sz="1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Box 4"/>
          <p:cNvSpPr txBox="1"/>
          <p:nvPr/>
        </p:nvSpPr>
        <p:spPr>
          <a:xfrm>
            <a:off x="6249600" y="979377"/>
            <a:ext cx="2707200" cy="857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228600" algn="ctr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1700" b="1" dirty="0">
                <a:latin typeface="Calibri" panose="020F0502020204030204"/>
                <a:ea typeface="Calibri" panose="020F0502020204030204"/>
              </a:rPr>
              <a:t>Machine </a:t>
            </a:r>
            <a:r>
              <a:rPr lang="en-US" altLang="zh-CN" sz="1700" b="1" dirty="0" smtClean="0">
                <a:latin typeface="Calibri" panose="020F0502020204030204"/>
                <a:ea typeface="Calibri" panose="020F0502020204030204"/>
              </a:rPr>
              <a:t>Learning</a:t>
            </a:r>
            <a:br>
              <a:rPr lang="en-US" altLang="zh-CN" sz="1700" b="1" dirty="0" smtClean="0">
                <a:latin typeface="Calibri" panose="020F0502020204030204"/>
                <a:ea typeface="Calibri" panose="020F0502020204030204"/>
              </a:rPr>
            </a:br>
            <a:r>
              <a:rPr lang="en-US" altLang="zh-CN" sz="1800" b="1" dirty="0" err="1">
                <a:solidFill>
                  <a:schemeClr val="tx1"/>
                </a:solidFill>
                <a:latin typeface="Calibri" panose="020F0502020204030204"/>
                <a:ea typeface="Calibri" panose="020F0502020204030204"/>
              </a:rPr>
              <a:t>TensorFlow</a:t>
            </a:r>
            <a:endParaRPr lang="en-US" altLang="zh-CN" sz="1200" b="1" dirty="0">
              <a:solidFill>
                <a:schemeClr val="tx1"/>
              </a:solidFill>
              <a:latin typeface="Calibri" panose="020F0502020204030204"/>
              <a:ea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2462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08;p61"/>
          <p:cNvSpPr txBox="1">
            <a:spLocks noGrp="1"/>
          </p:cNvSpPr>
          <p:nvPr>
            <p:ph type="title"/>
          </p:nvPr>
        </p:nvSpPr>
        <p:spPr>
          <a:xfrm>
            <a:off x="251550" y="26703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/>
              <a:t>References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79705" y="1131570"/>
            <a:ext cx="8380095" cy="2427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2286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1700" b="1">
                <a:latin typeface="Calibri" panose="020F0502020204030204"/>
                <a:ea typeface="Calibri" panose="020F0502020204030204"/>
              </a:rPr>
              <a:t>1. Airbnb.</a:t>
            </a:r>
            <a:r>
              <a:rPr lang="en-US" altLang="zh-CN" i="1">
                <a:latin typeface="Calibri" panose="020F0502020204030204"/>
                <a:ea typeface="Calibri" panose="020F0502020204030204"/>
              </a:rPr>
              <a:t> [Online]</a:t>
            </a:r>
            <a:r>
              <a:rPr lang="en-US" altLang="zh-CN" sz="1700">
                <a:latin typeface="Calibri" panose="020F0502020204030204"/>
                <a:ea typeface="Calibri" panose="020F0502020204030204"/>
              </a:rPr>
              <a:t>. URL: </a:t>
            </a:r>
            <a:r>
              <a:rPr lang="en-US" altLang="zh-CN" sz="1700" u="sng">
                <a:solidFill>
                  <a:srgbClr val="0000FF"/>
                </a:solidFill>
                <a:latin typeface="Calibri" panose="020F0502020204030204"/>
                <a:ea typeface="Calibri" panose="020F0502020204030204"/>
                <a:hlinkClick r:id="rId3"/>
              </a:rPr>
              <a:t>https://www.airbnb.com</a:t>
            </a:r>
            <a:r>
              <a:rPr lang="en-US" altLang="zh-CN" sz="1700">
                <a:latin typeface="Calibri" panose="020F0502020204030204"/>
                <a:ea typeface="Calibri" panose="020F0502020204030204"/>
              </a:rPr>
              <a:t>                               </a:t>
            </a:r>
            <a:r>
              <a:rPr lang="en-US" altLang="zh-CN" sz="1200" b="0">
                <a:solidFill>
                  <a:srgbClr val="7F7F7F"/>
                </a:solidFill>
                <a:latin typeface="Calibri" panose="020F0502020204030204"/>
                <a:ea typeface="Calibri" panose="020F0502020204030204"/>
              </a:rPr>
              <a:t>(Available at: December 1, 2024)</a:t>
            </a:r>
          </a:p>
          <a:p>
            <a:pPr marL="457200" indent="-228600" algn="r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zh-CN" sz="1600" b="0">
              <a:solidFill>
                <a:srgbClr val="7F7F7F"/>
              </a:solidFill>
              <a:latin typeface="Calibri" panose="020F0502020204030204"/>
              <a:ea typeface="Calibri" panose="020F0502020204030204"/>
            </a:endParaRPr>
          </a:p>
          <a:p>
            <a:pPr marL="457200" indent="-2286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1700" b="1">
                <a:latin typeface="Calibri" panose="020F0502020204030204"/>
                <a:ea typeface="Calibri" panose="020F0502020204030204"/>
              </a:rPr>
              <a:t>2. Bayut.</a:t>
            </a:r>
            <a:r>
              <a:rPr lang="en-US" altLang="zh-CN">
                <a:latin typeface="Calibri" panose="020F0502020204030204"/>
                <a:ea typeface="Calibri" panose="020F0502020204030204"/>
              </a:rPr>
              <a:t> </a:t>
            </a:r>
            <a:r>
              <a:rPr lang="en-US" altLang="zh-CN" i="1">
                <a:latin typeface="Calibri" panose="020F0502020204030204"/>
                <a:ea typeface="Calibri" panose="020F0502020204030204"/>
              </a:rPr>
              <a:t>[Online]</a:t>
            </a:r>
            <a:r>
              <a:rPr lang="en-US" altLang="zh-CN" sz="1700" i="1">
                <a:latin typeface="Calibri" panose="020F0502020204030204"/>
                <a:ea typeface="Calibri" panose="020F0502020204030204"/>
              </a:rPr>
              <a:t>.</a:t>
            </a:r>
            <a:r>
              <a:rPr lang="en-US" altLang="zh-CN" sz="1700">
                <a:latin typeface="Calibri" panose="020F0502020204030204"/>
                <a:ea typeface="Calibri" panose="020F0502020204030204"/>
              </a:rPr>
              <a:t> URL: </a:t>
            </a:r>
            <a:r>
              <a:rPr lang="en-US" altLang="zh-CN" sz="1700" u="sng">
                <a:solidFill>
                  <a:srgbClr val="0000FF"/>
                </a:solidFill>
                <a:latin typeface="Calibri" panose="020F0502020204030204"/>
                <a:ea typeface="Calibri" panose="020F0502020204030204"/>
                <a:hlinkClick r:id="rId4"/>
              </a:rPr>
              <a:t>https://www.bayut.com</a:t>
            </a:r>
            <a:r>
              <a:rPr lang="en-US" altLang="zh-CN" sz="1200">
                <a:solidFill>
                  <a:srgbClr val="7F7F7F"/>
                </a:solidFill>
                <a:latin typeface="Calibri" panose="020F0502020204030204"/>
                <a:ea typeface="Calibri" panose="020F0502020204030204"/>
              </a:rPr>
              <a:t>                                                  (Available at: December 1, 2024)</a:t>
            </a:r>
          </a:p>
          <a:p>
            <a:pPr marL="457200" indent="-228600" algn="r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zh-CN" sz="1200">
              <a:solidFill>
                <a:srgbClr val="7F7F7F"/>
              </a:solidFill>
              <a:latin typeface="Calibri" panose="020F0502020204030204"/>
              <a:ea typeface="Calibri" panose="020F0502020204030204"/>
            </a:endParaRPr>
          </a:p>
          <a:p>
            <a:pPr marL="457200" indent="-228600" defTabSz="2667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1700" b="1">
                <a:latin typeface="Calibri" panose="020F0502020204030204"/>
                <a:ea typeface="Calibri" panose="020F0502020204030204"/>
              </a:rPr>
              <a:t>3. Aqary Masr</a:t>
            </a:r>
            <a:r>
              <a:rPr lang="en-US" altLang="zh-CN" sz="1700">
                <a:latin typeface="Calibri" panose="020F0502020204030204"/>
                <a:ea typeface="Calibri" panose="020F0502020204030204"/>
              </a:rPr>
              <a:t>.</a:t>
            </a:r>
            <a:r>
              <a:rPr lang="en-US" altLang="zh-CN">
                <a:latin typeface="Calibri" panose="020F0502020204030204"/>
                <a:ea typeface="Calibri" panose="020F0502020204030204"/>
              </a:rPr>
              <a:t> </a:t>
            </a:r>
            <a:r>
              <a:rPr lang="en-US" altLang="zh-CN" i="1">
                <a:latin typeface="Calibri" panose="020F0502020204030204"/>
                <a:ea typeface="Calibri" panose="020F0502020204030204"/>
              </a:rPr>
              <a:t>[Online].</a:t>
            </a:r>
            <a:r>
              <a:rPr lang="en-US" altLang="zh-CN" sz="1700">
                <a:latin typeface="Calibri" panose="020F0502020204030204"/>
                <a:ea typeface="Calibri" panose="020F0502020204030204"/>
              </a:rPr>
              <a:t> URL: </a:t>
            </a:r>
            <a:r>
              <a:rPr lang="en-US" altLang="zh-CN" sz="1700" u="sng">
                <a:solidFill>
                  <a:srgbClr val="0000FF"/>
                </a:solidFill>
                <a:latin typeface="Calibri" panose="020F0502020204030204"/>
                <a:ea typeface="Calibri" panose="020F0502020204030204"/>
                <a:hlinkClick r:id="rId5"/>
              </a:rPr>
              <a:t>https://aqaryamasr.com</a:t>
            </a:r>
            <a:r>
              <a:rPr lang="en-US" altLang="zh-CN" sz="1600">
                <a:solidFill>
                  <a:srgbClr val="7F7F7F"/>
                </a:solidFill>
                <a:latin typeface="Calibri" panose="020F0502020204030204"/>
                <a:ea typeface="Calibri" panose="020F0502020204030204"/>
              </a:rPr>
              <a:t>                           </a:t>
            </a:r>
            <a:r>
              <a:rPr lang="en-US" altLang="zh-CN" sz="1200">
                <a:solidFill>
                  <a:srgbClr val="7F7F7F"/>
                </a:solidFill>
                <a:latin typeface="Calibri" panose="020F0502020204030204"/>
                <a:ea typeface="Calibri" panose="020F0502020204030204"/>
              </a:rPr>
              <a:t>(Available at: January 21, 2025)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0">
                <a:sym typeface="+mn-ea"/>
              </a:rPr>
              <a:t>Thanks!</a:t>
            </a:r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395</Words>
  <Application>Microsoft Office PowerPoint</Application>
  <PresentationFormat>On-screen Show (16:9)</PresentationFormat>
  <Paragraphs>119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Alexandria Medium</vt:lpstr>
      <vt:lpstr>Albert Sans</vt:lpstr>
      <vt:lpstr>Lead Funnel by Slidesgo</vt:lpstr>
      <vt:lpstr>Semsary</vt:lpstr>
      <vt:lpstr>Our team</vt:lpstr>
      <vt:lpstr>01</vt:lpstr>
      <vt:lpstr>Introduction</vt:lpstr>
      <vt:lpstr>Abstract</vt:lpstr>
      <vt:lpstr>problem statement</vt:lpstr>
      <vt:lpstr>overview</vt:lpstr>
      <vt:lpstr>objectives</vt:lpstr>
      <vt:lpstr>Related Works</vt:lpstr>
      <vt:lpstr>Related Works</vt:lpstr>
      <vt:lpstr>Related Works</vt:lpstr>
      <vt:lpstr>Related Works</vt:lpstr>
      <vt:lpstr>System UI</vt:lpstr>
      <vt:lpstr>System UI</vt:lpstr>
      <vt:lpstr>System UI</vt:lpstr>
      <vt:lpstr>System UI</vt:lpstr>
      <vt:lpstr>System UI</vt:lpstr>
      <vt:lpstr>System UI</vt:lpstr>
      <vt:lpstr>Use Case</vt:lpstr>
      <vt:lpstr>Use Case Diagram</vt:lpstr>
      <vt:lpstr>Use Case Diagram</vt:lpstr>
      <vt:lpstr>Use Case Diagram</vt:lpstr>
      <vt:lpstr>System Architecture</vt:lpstr>
      <vt:lpstr>System Architecture</vt:lpstr>
      <vt:lpstr>Data Collection</vt:lpstr>
      <vt:lpstr>Data Collection </vt:lpstr>
      <vt:lpstr>Data Collection </vt:lpstr>
      <vt:lpstr>Data Collection </vt:lpstr>
      <vt:lpstr>Techniques and tools</vt:lpstr>
      <vt:lpstr>References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Semsary</dc:title>
  <dc:creator/>
  <cp:lastModifiedBy>Microsoft account</cp:lastModifiedBy>
  <cp:revision>19</cp:revision>
  <dcterms:created xsi:type="dcterms:W3CDTF">2025-01-21T18:07:00Z</dcterms:created>
  <dcterms:modified xsi:type="dcterms:W3CDTF">2025-01-23T18:24:18Z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5C00DDD4320B4679AA0A2F48048F58A3_12</vt:lpwstr>
  </property>
  <property fmtid="{D5CDD505-2E9C-101B-9397-08002B2CF9AE}" pid="3" name="KSOProductBuildVer">
    <vt:lpwstr>1033-12.2.0.19805</vt:lpwstr>
  </property>
</Properties>
</file>